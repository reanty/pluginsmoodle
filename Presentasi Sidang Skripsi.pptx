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8" r:id="rId14"/>
    <p:sldId id="267" r:id="rId15"/>
    <p:sldId id="268" r:id="rId16"/>
    <p:sldId id="269" r:id="rId17"/>
    <p:sldId id="277" r:id="rId18"/>
    <p:sldId id="274" r:id="rId19"/>
    <p:sldId id="271" r:id="rId20"/>
  </p:sldIdLst>
  <p:sldSz cx="12192000" cy="6858000"/>
  <p:notesSz cx="6858000" cy="9144000"/>
  <p:embeddedFontLst>
    <p:embeddedFont>
      <p:font typeface="DM Sans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  <a:srgbClr val="F1F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4676F9-B417-43B5-9F49-67CB233638CB}">
  <a:tblStyle styleId="{9C4676F9-B417-43B5-9F49-67CB233638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97;p14" descr="image.png">
            <a:extLst>
              <a:ext uri="{FF2B5EF4-FFF2-40B4-BE49-F238E27FC236}">
                <a16:creationId xmlns:a16="http://schemas.microsoft.com/office/drawing/2014/main" id="{1B0A4C2A-E24A-0073-1826-6BBDC83BBC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0490" y="3336121"/>
            <a:ext cx="131016" cy="92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7;p14" descr="image.png">
            <a:extLst>
              <a:ext uri="{FF2B5EF4-FFF2-40B4-BE49-F238E27FC236}">
                <a16:creationId xmlns:a16="http://schemas.microsoft.com/office/drawing/2014/main" id="{5F5FE03B-CE4F-A810-C78B-AEA958E8FF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0490" y="3336120"/>
            <a:ext cx="131016" cy="92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97;p14" descr="image.png">
            <a:extLst>
              <a:ext uri="{FF2B5EF4-FFF2-40B4-BE49-F238E27FC236}">
                <a16:creationId xmlns:a16="http://schemas.microsoft.com/office/drawing/2014/main" id="{C0D63A79-08E5-A954-5256-2A156D9BAC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0490" y="3336119"/>
            <a:ext cx="131016" cy="92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860C8C-A603-48B9-8FBB-5A128B0D7770}"/>
              </a:ext>
            </a:extLst>
          </p:cNvPr>
          <p:cNvGrpSpPr/>
          <p:nvPr/>
        </p:nvGrpSpPr>
        <p:grpSpPr>
          <a:xfrm>
            <a:off x="666748" y="4874235"/>
            <a:ext cx="10858501" cy="1525637"/>
            <a:chOff x="666749" y="4881208"/>
            <a:chExt cx="10858501" cy="1525637"/>
          </a:xfrm>
        </p:grpSpPr>
        <p:pic>
          <p:nvPicPr>
            <p:cNvPr id="85" name="Google Shape;85;p13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66749" y="4881208"/>
              <a:ext cx="10858500" cy="15256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3"/>
            <p:cNvSpPr txBox="1"/>
            <p:nvPr/>
          </p:nvSpPr>
          <p:spPr>
            <a:xfrm>
              <a:off x="666750" y="5007173"/>
              <a:ext cx="10858500" cy="3447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Annuruddin</a:t>
              </a:r>
              <a:r>
                <a:rPr lang="en-US" sz="1600" b="1" i="0" u="none" strike="noStrike" cap="none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600" b="1" i="0" u="none" strike="noStrike" cap="none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Tsanasti</a:t>
              </a:r>
              <a:r>
                <a:rPr lang="en-US" sz="1600" b="1" i="0" u="none" strike="noStrike" cap="none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Yassar (5302422055)</a:t>
              </a:r>
              <a:endParaRPr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666749" y="5463557"/>
              <a:ext cx="10858500" cy="3016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 dirty="0" err="1">
                  <a:solidFill>
                    <a:srgbClr val="0F172A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Pembimbing</a:t>
              </a:r>
              <a:r>
                <a:rPr lang="en-US" sz="1350" b="1" i="0" u="none" strike="noStrike" cap="none" dirty="0">
                  <a:solidFill>
                    <a:srgbClr val="0F172A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: Dr. </a:t>
              </a:r>
              <a:r>
                <a:rPr lang="en-US" sz="1350" b="1" i="0" u="none" strike="noStrike" cap="none" dirty="0" err="1">
                  <a:solidFill>
                    <a:srgbClr val="0F172A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Djuniadi</a:t>
              </a:r>
              <a:r>
                <a:rPr lang="en-US" sz="1350" b="1" i="0" u="none" strike="noStrike" cap="none" dirty="0">
                  <a:solidFill>
                    <a:srgbClr val="0F172A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, M.T.</a:t>
              </a:r>
              <a:endParaRPr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666750" y="5833764"/>
              <a:ext cx="10858500" cy="3016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i="0" u="none" strike="noStrike" cap="none" dirty="0">
                  <a:solidFill>
                    <a:srgbClr val="94A3B8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FAKULTAS TEKNIK | UNIVERSITAS NEGERI SEMARANG | 2026</a:t>
              </a:r>
              <a:endParaRPr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Picture 1" descr="A yellow logo with blue text&#10;&#10;AI-generated content may be incorrect.">
            <a:extLst>
              <a:ext uri="{FF2B5EF4-FFF2-40B4-BE49-F238E27FC236}">
                <a16:creationId xmlns:a16="http://schemas.microsoft.com/office/drawing/2014/main" id="{26B70988-67F1-3E56-96FF-A875E81D1A7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402" y="753815"/>
            <a:ext cx="959196" cy="127822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7;p13">
            <a:extLst>
              <a:ext uri="{FF2B5EF4-FFF2-40B4-BE49-F238E27FC236}">
                <a16:creationId xmlns:a16="http://schemas.microsoft.com/office/drawing/2014/main" id="{01A00AD0-AF10-A065-5F39-E7B805C54D95}"/>
              </a:ext>
            </a:extLst>
          </p:cNvPr>
          <p:cNvSpPr txBox="1"/>
          <p:nvPr/>
        </p:nvSpPr>
        <p:spPr>
          <a:xfrm>
            <a:off x="395287" y="2230040"/>
            <a:ext cx="11401425" cy="1599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PENGEMBANGAN FITUR MOODLE LATIHAN PEMROGRAMAN INTERAKTIF DENGAN UMPAN BALIK CERDAS BERBASIS LLM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4" descr="image.png">
            <a:extLst>
              <a:ext uri="{FF2B5EF4-FFF2-40B4-BE49-F238E27FC236}">
                <a16:creationId xmlns:a16="http://schemas.microsoft.com/office/drawing/2014/main" id="{220E3E20-55E5-EBA4-AA1B-FC244A5946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9013" y="2223045"/>
            <a:ext cx="5276850" cy="2112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275" y="2223045"/>
            <a:ext cx="5276850" cy="2112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2223045"/>
            <a:ext cx="5276850" cy="211246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76275" y="485775"/>
            <a:ext cx="11381422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LATAR BELAKANG &amp; URGENSI MASALAH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76275" y="1028700"/>
            <a:ext cx="1083945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76275" y="1114425"/>
            <a:ext cx="108394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Pendidikan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vokasi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rekayasa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perangkat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lunak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SMK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Kelas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11 Fase F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menghadapi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hambatan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pedagogis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kritis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penguasaan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JavaScript Dasar.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Peserta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didik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pemula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sering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kali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mengalami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Cognitive Overload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dipicu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oleh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pesan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galat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kompilator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standard error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bawaan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Node.js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dirancang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untuk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profesional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bersifat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kaku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absolut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nir-konteks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murni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berbahasa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Inggris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teknis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76275" y="4640312"/>
            <a:ext cx="1083945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Penelitian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berusaha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menangani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tantangan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tersebut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merancang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Plugin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Sebuah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Automated Programming Assessment System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(APAS)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mengintegrasikan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isolasi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eksekusi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cerdas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asisten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tutor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Sokratik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berbasis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Large Language Model (LLM) di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perimeter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institusional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2365920"/>
            <a:ext cx="5190648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Analisis</a:t>
            </a: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Kognitif</a:t>
            </a: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&amp;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Psikologis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66775" y="2814030"/>
            <a:ext cx="4943475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Rentetan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kegagalan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persisten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menginterpretasikan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pesan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ReferenceError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mengakibatkan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kelelahan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mental,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mengerosi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efikasi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self-efficacy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),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memicu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demotivasi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akut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terhadap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karir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TIK. Hal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diperburuk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oleh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tingginya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rasio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perbedaan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jumlah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guru &amp;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menghalangi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bimbingan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individual 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real-time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saat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praktikum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laboratorium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429375" y="2365920"/>
            <a:ext cx="5190648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Anomali Infrastruktur &amp; Keamanan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429375" y="2814030"/>
            <a:ext cx="4943475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Adopsi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platform IDE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eksternal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menghadirkan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risiko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fatal: 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Auto-complete Spoilers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menyuapi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blok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jawaban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utuh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merusak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nalar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analitis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mandiri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serta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putusnya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sinkronisasi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data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Moodle Gradebook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 Selain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itu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eksekusi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klien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peladen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berbasis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PHP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mengundang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ancaman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keamanan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siber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tingkat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kritis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808559"/>
            <a:ext cx="10858500" cy="1056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959893"/>
            <a:ext cx="10858500" cy="1056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111228"/>
            <a:ext cx="10858500" cy="105608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66750" y="476250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RUMUSAN MASALAH PENELITIAN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66750" y="971550"/>
            <a:ext cx="10858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66750" y="1038689"/>
            <a:ext cx="108585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Berdasarkan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identifikasi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gap pada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infrastruktur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LMS Moodle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konvensional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tidak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memiliki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modul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eksekusi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interaktif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ketergantungan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destruktif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AI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generatif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eksternal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dirumuskan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masalah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penelitian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sebagai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berikut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1922859"/>
            <a:ext cx="110514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1. Integrasi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Arsitektur</a:t>
            </a: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Asinkron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57250" y="2151369"/>
            <a:ext cx="105251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Bagaimana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merancang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bangun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arsitektur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plugin Moodle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mengintegrasikan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asinkron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komponen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Editor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berbasis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modul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JavaScript,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proksi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Backend Executor,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modul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Analyzer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kecerdasan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buatan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berbasis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Google Gemini API?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857250" y="3074193"/>
            <a:ext cx="1105138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2.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Pemodelan</a:t>
            </a: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Sandbox &amp;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Keamanan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857250" y="3302704"/>
            <a:ext cx="105251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Bagaimana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memodelkan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mengimplementasikan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mekanisme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pertahanan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keamanan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eksekusi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(sandbox isolation) di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lingkungan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guna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menjamin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imunitas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peladen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PHP Moodle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eksploitasi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untrusted code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klien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?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72490" y="4225528"/>
            <a:ext cx="1105138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3.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Validitas</a:t>
            </a: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Aliran</a:t>
            </a: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Data XMLDB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72490" y="4454038"/>
            <a:ext cx="105251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Bagaimana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memvalidasi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keandalan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integrasi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aliran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data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melalui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metode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UI Walk-through guna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memastikan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aktivitas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kompilasi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intervensi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terekam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otentik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tabel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basis data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aicode_attempts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tervisualisasi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presisi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dashboard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analitik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instruktur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?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4;p15" descr="image.png">
            <a:extLst>
              <a:ext uri="{FF2B5EF4-FFF2-40B4-BE49-F238E27FC236}">
                <a16:creationId xmlns:a16="http://schemas.microsoft.com/office/drawing/2014/main" id="{FBCF2CB1-CDBC-0F07-91B3-D645F5D25A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47" y="4239491"/>
            <a:ext cx="1085850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14;p15" descr="image.png">
            <a:extLst>
              <a:ext uri="{FF2B5EF4-FFF2-40B4-BE49-F238E27FC236}">
                <a16:creationId xmlns:a16="http://schemas.microsoft.com/office/drawing/2014/main" id="{259F453D-18D0-B2AD-C390-6338939A25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44" y="4240203"/>
            <a:ext cx="1085850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4238779"/>
            <a:ext cx="10858500" cy="63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666750" y="476250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BATASAN MASALAH &amp; PARAMETER TEKNIS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666750" y="971550"/>
            <a:ext cx="10858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66749" y="1094525"/>
            <a:ext cx="108585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Guna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menjamin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kedalaman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analisis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fokus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domain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ilmu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Rekayasa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Perangkat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Lunak,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dibatasi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ketat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parameter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teknis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berikut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833437" y="4431247"/>
            <a:ext cx="105251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Batasan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memastikan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validitas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teknis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software engineering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tetap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terjaga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tanpa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terdistorsi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oleh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variabel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subjektivitas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pengguna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luar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arsitektur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66749" y="1578917"/>
            <a:ext cx="492918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Metodologi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Pengembangan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eksklusif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menggunakan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model SDLC Waterfall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sekuensial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guna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menjaga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stabilitas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XMLDB dan Gradebook API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sejak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fase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persyaratan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666748" y="2408119"/>
            <a:ext cx="492918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Ruang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Lingkup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Materi: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dibatasi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untuk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mengevaluasi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materi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bahasa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pemrograman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JavaScript Dasar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sesuai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target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capaian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Kurikulum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Merdeka Fase F SMK.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66747" y="3183716"/>
            <a:ext cx="492918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Kompatibilitas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Dikompilasi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khusus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untuk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versi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5.0+,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berjalan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lingkungan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PHP 8.1+, basis data MySQL 8.0+, dan runtime Node.js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independen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262686" y="1578917"/>
            <a:ext cx="492918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Isolasi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Komputasi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Modul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asinkron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diisolasi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menggunakan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runtime Node.js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ditambatkan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port 3001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restriksi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memori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payload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maksimal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50KB.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262683" y="2354514"/>
            <a:ext cx="492918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Metrik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Validasi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Pengujian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dibatasi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3 pilar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operasional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Fungsionalitas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(40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skenario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Black-box),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Validitas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Keamanan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Sandbox (Expert Judgment),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Integritas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Rekam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Data (UI Walk-Through).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262683" y="3130111"/>
            <a:ext cx="492918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Eksklusi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Psikometrik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Penelitian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mutlak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mengeliminasi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variabel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pengukuran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psikologis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persepsi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pengguna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maupun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evaluasi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hasil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belajar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pedagogis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konvensional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90625"/>
            <a:ext cx="10858500" cy="1056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019657"/>
            <a:ext cx="10858500" cy="10560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666750" y="476250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TUJUAN PENELITIAN REKAYASA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666750" y="971550"/>
            <a:ext cx="10858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857250" y="1304925"/>
            <a:ext cx="1105138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Tujuan Umum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857250" y="1520369"/>
            <a:ext cx="105251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Mengembangkan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fitur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latihan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pemrograman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interaktif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Moodle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menyediakan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umpan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balik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cerdas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berbasis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LLM guna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membantu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memahami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materi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pemprograman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javascript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tanpa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menghilangkan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esensi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proses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penalaran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analitis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mandiri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857250" y="4133957"/>
            <a:ext cx="1105138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Integritas</a:t>
            </a: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Aliran</a:t>
            </a: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Data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857250" y="4464933"/>
            <a:ext cx="105251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Membuktikan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stabilitas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fungsionalitas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integritas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aliran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data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perangkat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lunak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melalui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pengujian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penelusuran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antarmuka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guna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memastikan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visualisasi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matriks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progres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di dashboard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pengajar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merepresentasikan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transaksi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pangkalan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data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akurat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tanpa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anomali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pencatatan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66750" y="2471353"/>
            <a:ext cx="557569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Spesifikasi</a:t>
            </a:r>
            <a:r>
              <a:rPr lang="en-US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Web Service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666752" y="2789429"/>
            <a:ext cx="5310187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Menghasilkan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spesifikasi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teknis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piranti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lunak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plugin Activity Module Moodle (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mengimplementasikan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Web Service Subsystem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sebagai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jembatan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komunikasi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data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antara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antarmuka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pengguna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interaktif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mesin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eksekusi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lokal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layanan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eksternal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6215062" y="2471353"/>
            <a:ext cx="557569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Lapisan Keamanan Runtime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6215062" y="2789428"/>
            <a:ext cx="5310187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Membangun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lapisan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keamanan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runtime execution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melalui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layanan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proksi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Node.js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mampu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mengisolasi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eksekusi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asinkron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memastikan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keamanan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infrastruktur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utama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eksploitasi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berkas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beban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komputasi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terbatas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90625"/>
            <a:ext cx="5310187" cy="2443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190625"/>
            <a:ext cx="5310187" cy="279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666750" y="476250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MANFAAT PENELITIAN (TEORETIS &amp; PRAKTIS)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666750" y="971550"/>
            <a:ext cx="10858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857250" y="1304925"/>
            <a:ext cx="522565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Manfaat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Teoretis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857250" y="1634669"/>
            <a:ext cx="4976812" cy="180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Mengembangkan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arsitektur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software engineering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domain Automated Programming Assessment System (APAS)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membuktikan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kelayakan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model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dekopling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sandbox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asinkron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digabungkan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manipulasi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hyperparameter LLM.</a:t>
            </a:r>
          </a:p>
          <a:p>
            <a:pPr marL="171450" indent="-171450">
              <a:lnSpc>
                <a:spcPct val="140017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Memberikan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fondasi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baru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tentang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penggunaan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fungsi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i="1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array_slice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PHP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untuk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mengebiri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output AI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generatif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guna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menghasilkan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pedagogi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Sokratik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presisi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deterministik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dan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terhindar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dari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bias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halusinasi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informasional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405562" y="1304925"/>
            <a:ext cx="522565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Manfaat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Praktis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405562" y="1599027"/>
            <a:ext cx="4976812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Bagi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Institusi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Menyediakan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solusi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infrastruktur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evaluasi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pemrograman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tersentralisasi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aman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mematuhi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regulasi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privasi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data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tanpa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perlu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instalasi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IDE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pihak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ketiga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laboratorium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6405562" y="2366385"/>
            <a:ext cx="4976812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Bagi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Pendidik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Mengotomatisasi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evaluasi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melalui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dashboard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analitik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memetakan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jenis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error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logis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dominan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kelas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tersinkronisasi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langsung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 Gradebook API.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6405562" y="3133743"/>
            <a:ext cx="4976812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Bagi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Peserta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Didik: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Berfungsi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sebagai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asisten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co-tutor 24 jam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mendobrak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isolasi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bahasa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stderr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kompilator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melalui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panduan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scaffolding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berbahasa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Indonesia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tanpa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meretas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proses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belajar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601985"/>
            <a:ext cx="10858500" cy="1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2959893"/>
            <a:ext cx="10858500" cy="1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317801"/>
            <a:ext cx="10858500" cy="126265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666750" y="476250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SIGNIFIKANSI KEBARUAN (NOVELTY) SISTEM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666750" y="971550"/>
            <a:ext cx="10858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666750" y="1044400"/>
            <a:ext cx="108585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Penelitian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menawarkan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tiga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pilar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kebaruan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fungsional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membedakannya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Automated Programming Assessment System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konvensional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857250" y="1716285"/>
            <a:ext cx="1105138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1. Asynchronous Sandbox Integration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857250" y="2073473"/>
            <a:ext cx="105251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Berbeda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APAS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tradisional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mengeksekusi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urutan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peladen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PHP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monolitik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merelokasi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beban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kompilasi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string JavaScript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menuju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modul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eksekutor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Node.js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independen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porta 3001. Desain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menciptakan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benteng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isolasi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memblokir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akses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manipulasi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berkas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host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absolut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857250" y="3074193"/>
            <a:ext cx="1105138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2. Mock Polyfill DOM Modification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857250" y="3431381"/>
            <a:ext cx="105251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Komponen frontend (editor.js) menanamkan sistem polyfill otomatis yang melakukan intersepsi pada perintah </a:t>
            </a:r>
            <a:r>
              <a:rPr lang="en-US" sz="1200" b="0" i="1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document.getElementById</a:t>
            </a:r>
            <a:r>
              <a:rPr lang="en-US" sz="12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 Jika kueri siswa meleset dari templat HTML guru, antarmuka merender elemen bayangan secara dinamis guna mencegah browser crashing dan mendukung eksperimentasi bertahap.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857250" y="4432101"/>
            <a:ext cx="1105138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3. Anti-Spoiler Socratic Loop via array_slice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857250" y="4789289"/>
            <a:ext cx="105251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Kebaruan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paling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menonjol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terletak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rekayasa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limitasi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kueri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AI.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tidak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membiarkan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LLM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berimajinasi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bebas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;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setelah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balasan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JSON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diterima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peladen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otonom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memanipulasi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struktur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data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menggunakan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utilitas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array_slice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untuk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memangkas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output hint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menjadi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maksimal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tiga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tingkatan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petunjuk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diagnostik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saja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666750" y="476250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ANALISIS MATRIKS PENELITIAN SEBELUMNYA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66750" y="971550"/>
            <a:ext cx="10858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188" name="Google Shape;188;p19"/>
          <p:cNvGraphicFramePr/>
          <p:nvPr>
            <p:extLst>
              <p:ext uri="{D42A27DB-BD31-4B8C-83A1-F6EECF244321}">
                <p14:modId xmlns:p14="http://schemas.microsoft.com/office/powerpoint/2010/main" val="3051711825"/>
              </p:ext>
            </p:extLst>
          </p:nvPr>
        </p:nvGraphicFramePr>
        <p:xfrm>
          <a:off x="666750" y="1238250"/>
          <a:ext cx="10848950" cy="3084195"/>
        </p:xfrm>
        <a:graphic>
          <a:graphicData uri="http://schemas.openxmlformats.org/drawingml/2006/table">
            <a:tbl>
              <a:tblPr firstRow="1" bandRow="1">
                <a:noFill/>
                <a:tableStyleId>{9C4676F9-B417-43B5-9F49-67CB233638CB}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Peneliti</a:t>
                      </a:r>
                      <a:r>
                        <a:rPr lang="en-US" sz="12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(</a:t>
                      </a:r>
                      <a:r>
                        <a:rPr lang="en-US" sz="12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Thn</a:t>
                      </a:r>
                      <a:r>
                        <a:rPr lang="en-US" sz="12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)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Hasil &amp; </a:t>
                      </a:r>
                      <a:r>
                        <a:rPr lang="en-US" sz="12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Temuan</a:t>
                      </a:r>
                      <a:r>
                        <a:rPr lang="en-US" sz="12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Penelitian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Celah (Gap) &amp; </a:t>
                      </a:r>
                      <a:r>
                        <a:rPr lang="en-US" sz="12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Penerapan</a:t>
                      </a:r>
                      <a:r>
                        <a:rPr lang="en-US" sz="12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pada </a:t>
                      </a:r>
                      <a:r>
                        <a:rPr lang="en-US" sz="12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Aicode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Frankford et al. (2026)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Hybrid Socratic Framework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menggabungkan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analisis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kompilasi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deterministik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dengan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lapisan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percakapan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LLM guna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mencegah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kebocoran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jawaban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Mendasari rekayasa prompt anti-spoiler di Aicode yang mewajibkan AI bertindak murni sebagai fasilitator diagnostik tanpa resolusi kode utuh.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Nwohiri</a:t>
                      </a: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et al. (2025)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Arsitektur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backend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terpisah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menjamin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keamanan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host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dari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penetrasi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skrip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kode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untrusted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milik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siswa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melalui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sandboxing layer.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Justifikasi teknis pengalihan lalu lintas kompilasi asinkron menuju proksi Node.js port 3001 dengan limitasi muatan memori 50KB.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Liao et al. (2024)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Intervensi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scaffolding Al IPSSC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mengakselerasi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siklus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debugging dan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mendongkrak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efikasi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diri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novice programmers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secara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signifikan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Penerapan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translasi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stderr Node.js yang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kaku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menjadi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penjelasan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logis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formatif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berbahasa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Indonesia guna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mereduksi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hambatan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linguistik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siswa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SMK.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Alshammari (2025)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Integrasi ChatGPT mengurangi durasi koreksi manual instruktur dengan syarat log transaksi harus dipantau guna menghindari penyimpangan.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Mendasari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kebutuhan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pangkalan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data XMLDB Moodle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untuk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merekam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iterasi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kompilasi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ke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dalam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tabel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aicode_attempts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(Human-in-the-Loop).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Ma et al. (Ma et al. (2025)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Sistem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DBox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melalui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dekomposisi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hierarkis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Learner-LLM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membangun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pencapaian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kemandirian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logis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tanpa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memotong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sense of achievement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siswa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Mekanisme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Graduated Hints di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Aicode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;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membatasi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saran AI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melalui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array_slice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menjadi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3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derajat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petunjuk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(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sinyal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ringan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hingga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identifikasi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baris).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9" name="Google Shape;189;p19"/>
          <p:cNvSpPr txBox="1"/>
          <p:nvPr/>
        </p:nvSpPr>
        <p:spPr>
          <a:xfrm>
            <a:off x="657200" y="4560570"/>
            <a:ext cx="108585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Kesimpulan: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215;p21" descr="image.png">
            <a:extLst>
              <a:ext uri="{FF2B5EF4-FFF2-40B4-BE49-F238E27FC236}">
                <a16:creationId xmlns:a16="http://schemas.microsoft.com/office/drawing/2014/main" id="{9D9CBBF0-A23B-B31D-4913-CF33F66BC9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200" y="4903205"/>
            <a:ext cx="10858500" cy="71654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784860" y="5019513"/>
            <a:ext cx="1073084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mensintesis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temuan-temuan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tersebut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menjadi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satu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ekosistem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terpadu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menggabungkan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keamanan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infrastruktur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akurasi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konteks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restriksi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pedagogis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kerangka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monolitik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793802"/>
            <a:ext cx="5310187" cy="1517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2358283"/>
            <a:ext cx="5310187" cy="161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793802"/>
            <a:ext cx="5310187" cy="146923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666749" y="143544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LANDASAN TEORETIK &amp; KERANGKA ARSITEKTUR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666750" y="574727"/>
            <a:ext cx="10858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857250" y="908102"/>
            <a:ext cx="52256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1. SDLC Waterfall Model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867965" y="1101778"/>
            <a:ext cx="4976812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Pendekatan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sekuensial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dipilih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guna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memastikan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spesifikasi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XMLDB Moodle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pengikatan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fungsi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API Core Hooks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distabilkan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sejak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awal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fase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persyaratan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Fleksibilitas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metode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Agile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berpotensi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merusak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integritas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 Gradebook API di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tengah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siklus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pengembangan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857250" y="2472583"/>
            <a:ext cx="52256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2. </a:t>
            </a:r>
            <a:r>
              <a:rPr lang="en-GB" sz="1200" b="1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Arsitektur</a:t>
            </a:r>
            <a:r>
              <a:rPr lang="en-GB" sz="1200" b="1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Moodle Activity Modules &amp; Web Services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867965" y="2679744"/>
            <a:ext cx="4976812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8"/>
              </a:lnSpc>
            </a:pP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Plugin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terikat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oleh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kerangka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API Core Moodle yang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mensyaratkan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berkas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pengait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daur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hidup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(lifecycle hooks)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seperti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i="1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lib.php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untuk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pelacakan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status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penugasan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Komunikasi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asinkron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tanpa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penyegaran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halaman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dikendalikan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via Moodle External Web Service Subsystem yang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menangani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AJAX payloads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melalui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deklarasi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endpoint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otentik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405562" y="908102"/>
            <a:ext cx="52256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4. </a:t>
            </a:r>
            <a:r>
              <a:rPr lang="en-US" sz="1200" b="1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Pendekatan</a:t>
            </a: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200" b="1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Sokratik</a:t>
            </a: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&amp; Anti-Spoiler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405562" y="1093243"/>
            <a:ext cx="4976812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8"/>
              </a:lnSpc>
            </a:pP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bertindak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sebagai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"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pembimbing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inferensial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"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melalui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scaffolding yang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direkayasa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algoritmik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Regulasi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absolut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</a:t>
            </a:r>
            <a:r>
              <a:rPr lang="en-US" sz="1200" i="1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prompt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melarang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pemberian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blok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kode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utuh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sementara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fungsi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proksi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i="1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analyze_code.php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menerapkan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manipulasi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array_slice</a:t>
            </a:r>
            <a:r>
              <a:rPr lang="en-US" sz="1200" b="1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yaitu</a:t>
            </a: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untuk</a:t>
            </a: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membatasi</a:t>
            </a: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menjadi</a:t>
            </a: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3 </a:t>
            </a:r>
            <a:r>
              <a:rPr lang="en-US" sz="1200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jawaban</a:t>
            </a: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dari</a:t>
            </a: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C08F8E-7525-207F-35EB-775B1C827380}"/>
              </a:ext>
            </a:extLst>
          </p:cNvPr>
          <p:cNvGrpSpPr/>
          <p:nvPr/>
        </p:nvGrpSpPr>
        <p:grpSpPr>
          <a:xfrm>
            <a:off x="6215062" y="2293686"/>
            <a:ext cx="5416153" cy="1469231"/>
            <a:chOff x="6215062" y="2274866"/>
            <a:chExt cx="5416153" cy="1469231"/>
          </a:xfrm>
        </p:grpSpPr>
        <p:pic>
          <p:nvPicPr>
            <p:cNvPr id="199" name="Google Shape;199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215062" y="2274866"/>
              <a:ext cx="5310187" cy="1469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20"/>
            <p:cNvSpPr txBox="1"/>
            <p:nvPr/>
          </p:nvSpPr>
          <p:spPr>
            <a:xfrm>
              <a:off x="6405562" y="2412201"/>
              <a:ext cx="52256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1200" b="1" dirty="0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5. </a:t>
              </a:r>
              <a:r>
                <a:rPr lang="en-US" sz="1200" b="1" dirty="0" err="1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Isolasi</a:t>
              </a:r>
              <a:r>
                <a:rPr lang="en-US" sz="1200" b="1" dirty="0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 </a:t>
              </a:r>
              <a:r>
                <a:rPr lang="en-US" sz="1200" b="1" dirty="0" err="1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Eksekusi</a:t>
              </a:r>
              <a:r>
                <a:rPr lang="en-US" sz="1200" b="1" dirty="0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 Sandbox (Node.js)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6405562" y="2619362"/>
              <a:ext cx="4976812" cy="10341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40018"/>
                </a:lnSpc>
              </a:pP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Prinsip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ini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diterapkan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dengan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mengalihkan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lalu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lintas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eksekusi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ke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peladen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mesin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penafsir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independen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porta 3001 via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cURL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internal. Sandbox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ini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menetralisasi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bahaya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perulangan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tak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hingga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(infinite loops) dan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penetrasi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sistem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berkas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host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melalui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limitasi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payload 50KB dan timeout 2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detik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.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Google Shape;197;p20" descr="image.png">
            <a:extLst>
              <a:ext uri="{FF2B5EF4-FFF2-40B4-BE49-F238E27FC236}">
                <a16:creationId xmlns:a16="http://schemas.microsoft.com/office/drawing/2014/main" id="{0A1ED761-CE1F-EA82-FC17-881E15FCD68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6033" y="4019085"/>
            <a:ext cx="5310187" cy="161412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04;p20">
            <a:extLst>
              <a:ext uri="{FF2B5EF4-FFF2-40B4-BE49-F238E27FC236}">
                <a16:creationId xmlns:a16="http://schemas.microsoft.com/office/drawing/2014/main" id="{56174EE7-E21E-467D-86CF-8335BC011E33}"/>
              </a:ext>
            </a:extLst>
          </p:cNvPr>
          <p:cNvSpPr txBox="1"/>
          <p:nvPr/>
        </p:nvSpPr>
        <p:spPr>
          <a:xfrm>
            <a:off x="846534" y="4086706"/>
            <a:ext cx="52256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nl-NL" sz="1200" b="1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3. Pedagogi Pemrograman JavaScript Fase F SMK</a:t>
            </a:r>
            <a:endParaRPr lang="nl-NL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205;p20">
            <a:extLst>
              <a:ext uri="{FF2B5EF4-FFF2-40B4-BE49-F238E27FC236}">
                <a16:creationId xmlns:a16="http://schemas.microsoft.com/office/drawing/2014/main" id="{6BE530E1-6A3A-05B0-64CD-EA6B1F50E55F}"/>
              </a:ext>
            </a:extLst>
          </p:cNvPr>
          <p:cNvSpPr txBox="1"/>
          <p:nvPr/>
        </p:nvSpPr>
        <p:spPr>
          <a:xfrm>
            <a:off x="857249" y="4293867"/>
            <a:ext cx="4976812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8"/>
              </a:lnSpc>
            </a:pP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Capaian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pembelajaran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SMK Fase F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menuntut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penguasaan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sintaksis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JavaScript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dasar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memfasilitasi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isolasi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konsep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melalui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penyediaan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templat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kerangka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HTML statis (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kolom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i="1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htmltemplate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),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sehingga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beban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kognitif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siswa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terfokus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murni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logika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JavaScript (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variabel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kondisional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perulangan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manipulasi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array)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tanpa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distraksi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desain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antarmuka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07B138-07E8-778E-F1B2-D964DF67812D}"/>
              </a:ext>
            </a:extLst>
          </p:cNvPr>
          <p:cNvGrpSpPr/>
          <p:nvPr/>
        </p:nvGrpSpPr>
        <p:grpSpPr>
          <a:xfrm>
            <a:off x="6215062" y="3811859"/>
            <a:ext cx="5416153" cy="1469231"/>
            <a:chOff x="6215062" y="3810622"/>
            <a:chExt cx="5416153" cy="1469231"/>
          </a:xfrm>
        </p:grpSpPr>
        <p:pic>
          <p:nvPicPr>
            <p:cNvPr id="8" name="Google Shape;199;p20" descr="image.png">
              <a:extLst>
                <a:ext uri="{FF2B5EF4-FFF2-40B4-BE49-F238E27FC236}">
                  <a16:creationId xmlns:a16="http://schemas.microsoft.com/office/drawing/2014/main" id="{AC86260B-FBFB-D7F9-26E0-92B27681084E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215062" y="3810622"/>
              <a:ext cx="5310187" cy="1469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Google Shape;208;p20">
              <a:extLst>
                <a:ext uri="{FF2B5EF4-FFF2-40B4-BE49-F238E27FC236}">
                  <a16:creationId xmlns:a16="http://schemas.microsoft.com/office/drawing/2014/main" id="{E169B03A-BFD4-433D-6D31-4D85117ACB78}"/>
                </a:ext>
              </a:extLst>
            </p:cNvPr>
            <p:cNvSpPr txBox="1"/>
            <p:nvPr/>
          </p:nvSpPr>
          <p:spPr>
            <a:xfrm>
              <a:off x="6405562" y="3924922"/>
              <a:ext cx="52256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GB" sz="1200" b="1" dirty="0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6. </a:t>
              </a:r>
              <a:r>
                <a:rPr lang="en-GB" sz="1200" b="1" dirty="0" err="1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Umpan</a:t>
              </a:r>
              <a:r>
                <a:rPr lang="en-GB" sz="1200" b="1" dirty="0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 Balik </a:t>
              </a:r>
              <a:r>
                <a:rPr lang="en-GB" sz="1200" b="1" dirty="0" err="1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Formatif</a:t>
              </a:r>
              <a:r>
                <a:rPr lang="en-GB" sz="1200" b="1" dirty="0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 &amp; Human-in-the-Loop</a:t>
              </a:r>
              <a:endParaRPr lang="en-GB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Google Shape;209;p20">
              <a:extLst>
                <a:ext uri="{FF2B5EF4-FFF2-40B4-BE49-F238E27FC236}">
                  <a16:creationId xmlns:a16="http://schemas.microsoft.com/office/drawing/2014/main" id="{E88D9693-3BCF-504E-8A4E-C0E438144192}"/>
                </a:ext>
              </a:extLst>
            </p:cNvPr>
            <p:cNvSpPr txBox="1"/>
            <p:nvPr/>
          </p:nvSpPr>
          <p:spPr>
            <a:xfrm>
              <a:off x="6405562" y="4132083"/>
              <a:ext cx="4976812" cy="10341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40018"/>
                </a:lnSpc>
              </a:pP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Prinsip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ini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diterapkan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dengan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mengalihkan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lalu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lintas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eksekusi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ke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peladen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mesin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penafsir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independen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porta 3001 via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cURL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internal. Sandbox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ini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menetralisasi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bahaya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perulangan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tak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hingga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(infinite loops) dan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penetrasi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sistem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berkas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host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melalui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limitasi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payload 50KB dan timeout 2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detik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.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B86A70-41EF-EB05-8F3C-C38A758BD539}"/>
              </a:ext>
            </a:extLst>
          </p:cNvPr>
          <p:cNvGrpSpPr/>
          <p:nvPr/>
        </p:nvGrpSpPr>
        <p:grpSpPr>
          <a:xfrm>
            <a:off x="6215062" y="5323343"/>
            <a:ext cx="5416153" cy="1469231"/>
            <a:chOff x="6215062" y="5323343"/>
            <a:chExt cx="5416153" cy="1469231"/>
          </a:xfrm>
        </p:grpSpPr>
        <p:pic>
          <p:nvPicPr>
            <p:cNvPr id="14" name="Google Shape;199;p20" descr="image.png">
              <a:extLst>
                <a:ext uri="{FF2B5EF4-FFF2-40B4-BE49-F238E27FC236}">
                  <a16:creationId xmlns:a16="http://schemas.microsoft.com/office/drawing/2014/main" id="{5430A3D0-FA9E-1AA6-9F26-6B862CEEAB48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215062" y="5323343"/>
              <a:ext cx="5310187" cy="1469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208;p20">
              <a:extLst>
                <a:ext uri="{FF2B5EF4-FFF2-40B4-BE49-F238E27FC236}">
                  <a16:creationId xmlns:a16="http://schemas.microsoft.com/office/drawing/2014/main" id="{CEBBFE1F-8353-187E-DA2A-594434D67B19}"/>
                </a:ext>
              </a:extLst>
            </p:cNvPr>
            <p:cNvSpPr txBox="1"/>
            <p:nvPr/>
          </p:nvSpPr>
          <p:spPr>
            <a:xfrm>
              <a:off x="6405562" y="5437643"/>
              <a:ext cx="52256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fr-FR" sz="1200" b="1" dirty="0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7. Large </a:t>
              </a:r>
              <a:r>
                <a:rPr lang="fr-FR" sz="1200" b="1" dirty="0" err="1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Language</a:t>
              </a:r>
              <a:r>
                <a:rPr lang="fr-FR" sz="1200" b="1" dirty="0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 </a:t>
              </a:r>
              <a:r>
                <a:rPr lang="fr-FR" sz="1200" b="1" dirty="0" err="1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Models</a:t>
              </a:r>
              <a:r>
                <a:rPr lang="fr-FR" sz="1200" b="1" dirty="0">
                  <a:solidFill>
                    <a:srgbClr val="0D9488"/>
                  </a:solidFill>
                  <a:latin typeface="Times New Roman" panose="02020603050405020304" pitchFamily="18" charset="0"/>
                  <a:ea typeface="Merriweather"/>
                  <a:cs typeface="Times New Roman" panose="02020603050405020304" pitchFamily="18" charset="0"/>
                  <a:sym typeface="Merriweather"/>
                </a:rPr>
                <a:t> (LLM) Gemini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Google Shape;209;p20">
              <a:extLst>
                <a:ext uri="{FF2B5EF4-FFF2-40B4-BE49-F238E27FC236}">
                  <a16:creationId xmlns:a16="http://schemas.microsoft.com/office/drawing/2014/main" id="{4789FA63-7A01-76F9-68B0-E48D3EABCFA5}"/>
                </a:ext>
              </a:extLst>
            </p:cNvPr>
            <p:cNvSpPr txBox="1"/>
            <p:nvPr/>
          </p:nvSpPr>
          <p:spPr>
            <a:xfrm>
              <a:off x="6405562" y="5644804"/>
              <a:ext cx="4976812" cy="10341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40018"/>
                </a:lnSpc>
              </a:pP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Memanfaatkan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API Google Gemini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dengan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parameter: Temperature 0.2,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TopP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0.8, dan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MaxOutputTokens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2048 guna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meminimalisasi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halusinasi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.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Manajemen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kueri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dilindungi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rate limiting (50 calls/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hari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) dan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anonimisasi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identitas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(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allow_training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=1)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untuk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perlindungan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kerahasiaan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identitas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</a:t>
              </a:r>
              <a:r>
                <a:rPr lang="en-US" sz="1200" dirty="0" err="1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siswa</a:t>
              </a:r>
              <a:r>
                <a:rPr lang="en-US" sz="1200" dirty="0">
                  <a:solidFill>
                    <a:srgbClr val="33415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.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4719"/>
            <a:ext cx="10858500" cy="219194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666750" y="476250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METODOLOGI &amp; PROSEDUR REKAYASA (R&amp;D)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666750" y="971550"/>
            <a:ext cx="10858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66750" y="1046078"/>
            <a:ext cx="108585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Penelitian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bertumpu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disiplin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ilmu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Software Engineering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jenis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Penelitian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Pengembangan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(R&amp;D)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mengadopsi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prosedur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SDLC Waterfall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linier: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857250" y="1679019"/>
            <a:ext cx="1105138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Tahapan Pengembangan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1071563" y="2143478"/>
            <a:ext cx="502443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Analisis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Kebutuhan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Identifikasi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infrastruktur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 5.0+, PHP 8.1+, MySQL 8.0,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penyiapan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mesin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penafsir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asinkron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Node.js porta 3001.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6191250" y="2143478"/>
            <a:ext cx="502443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Perancangan Sistem: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Desain arsitektur 3-tier (Client AMD, Application Layer Node.js, Database MySQL) dan penyusunan skema XMLDB (db/install.xml).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1071563" y="2915598"/>
            <a:ext cx="502443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Implementasi: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Pengkodean modular komponen lib.php (lifecycle hooks), security_checker.php (AST filtering), dan editor.js (AMD frontend).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6191250" y="2915598"/>
            <a:ext cx="502443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Pengujian: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Validasi stabilitas sistem melalui Black-Box Testing (40 skenario) dan UI Walk-through Scenario guna menelusuri keakuratan log aktivitas.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666750" y="4164756"/>
            <a:ext cx="557569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Subjek</a:t>
            </a:r>
            <a:r>
              <a:rPr lang="en-US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Penelitian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666753" y="4451501"/>
            <a:ext cx="531018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Mahasiswa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Pendidikan 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Teknik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Informatika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meny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imulasikan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seb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agai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pengguna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(Learner Entity)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limitasi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kognitif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terhadap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stderr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berbahasa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Inggris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6215062" y="4164756"/>
            <a:ext cx="557569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Teknik Analisis Data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6215063" y="4454303"/>
            <a:ext cx="531018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Hasil validasi dianalisis secara deskriptif teknis. Matriks keberhasilan fungsional diukur dari persentase probabilitas modul dalam merespons penggunaan wajar maupun abnormal.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4709304"/>
            <a:ext cx="5310187" cy="1053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190624"/>
            <a:ext cx="5423043" cy="492823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666750" y="476250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ARSITEKTUR PLUGIN MOODLE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66750" y="971550"/>
            <a:ext cx="10858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6538911" y="4985486"/>
            <a:ext cx="4986338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Arsitektur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membagi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beban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eksekusi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(Security Decoupling)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sehingga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peladen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host Moodle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terisolasi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sepenuhnya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anomali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eksekusi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klien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6215062" y="1338262"/>
            <a:ext cx="531018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Implementasi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modul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dideploy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menggunakan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arsitektur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teknologi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lokal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terintegrasi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menjamin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modularitas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penuh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terhadap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standar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 LMS: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6215062" y="2125804"/>
            <a:ext cx="492918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Client Layer (AMD JS):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Antarmuka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frontend (editor.js)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mengelola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injeksi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pengguna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interaktif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manipulasi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DOM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dinamis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serta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transmisi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payload JSON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asinkron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6215062" y="2894517"/>
            <a:ext cx="492918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Application Layer (PHP &amp; Node.js):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Logika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bisnis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 (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view.php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run_code.php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memproses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otentikasi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serta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perutean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beban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kerja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eksekusi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proksi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Node.js port 3001.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6215062" y="3663230"/>
            <a:ext cx="492918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Database Layer (MySQL/XMLDB):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Manajemen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arsip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terstruktur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menggunakan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 XMLDB (install.xml)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mengikat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foreign key 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course.id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dan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userid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05F25A-3ABE-848A-A34E-B6E632B07AE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94" y="1279679"/>
            <a:ext cx="5256354" cy="475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842"/>
            <a:ext cx="10858500" cy="105608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666750" y="476250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REALISASI PLUGIN HANDLERS &amp; XMLDB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666750" y="971550"/>
            <a:ext cx="10858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690562" y="1068212"/>
            <a:ext cx="108585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Realisasi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162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162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mengunci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spesifikasi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162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penyimpanan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162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memori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162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logikal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162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162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lima </a:t>
            </a:r>
            <a:r>
              <a:rPr lang="en-US" sz="1162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tabel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162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utama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162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didefinisikan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</a:t>
            </a:r>
            <a:r>
              <a:rPr lang="en-US" sz="1162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skema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XMLDB (</a:t>
            </a:r>
            <a:r>
              <a:rPr lang="en-US" sz="1162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db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/install.xml):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8" name="Google Shape;258;p23"/>
          <p:cNvGraphicFramePr/>
          <p:nvPr>
            <p:extLst>
              <p:ext uri="{D42A27DB-BD31-4B8C-83A1-F6EECF244321}">
                <p14:modId xmlns:p14="http://schemas.microsoft.com/office/powerpoint/2010/main" val="1694679657"/>
              </p:ext>
            </p:extLst>
          </p:nvPr>
        </p:nvGraphicFramePr>
        <p:xfrm>
          <a:off x="666750" y="1555543"/>
          <a:ext cx="10882312" cy="2869808"/>
        </p:xfrm>
        <a:graphic>
          <a:graphicData uri="http://schemas.openxmlformats.org/drawingml/2006/table">
            <a:tbl>
              <a:tblPr firstRow="1" bandRow="1">
                <a:noFill/>
                <a:tableStyleId>{9C4676F9-B417-43B5-9F49-67CB233638CB}</a:tableStyleId>
              </a:tblPr>
              <a:tblGrid>
                <a:gridCol w="3265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5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Tabel XMLDB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Fungsi</a:t>
                      </a:r>
                      <a:r>
                        <a:rPr lang="en-US" sz="12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Operasional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5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mdl_aicode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Repositori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konfigurasi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soal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,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memuat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startercode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,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htmltemplate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, dan JSON testcases.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5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mdl_aicode_attempts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Perekaman jejak percobaan string komputasi siswa (code_submitted, stdout, stderr, exitcode).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5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mdl_aicode_cache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Mekanisme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penghematan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kuota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API AI;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menyimpan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ai_response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tersaring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dengan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TTL 3600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detik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5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mdl_aicode_activity_log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Audit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rekam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jejak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perilaku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UI (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tindakan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run, analyze,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request_hint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) guna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menopang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rate limiting.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373898"/>
                  </a:ext>
                </a:extLst>
              </a:tr>
              <a:tr h="36720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mdl_aicode_teacher_overrides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Mengakomodasi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Human-in-the-Loop;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menyimpan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koreksi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manual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instruktur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atas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M Sans"/>
                          <a:cs typeface="Times New Roman" panose="02020603050405020304" pitchFamily="18" charset="0"/>
                          <a:sym typeface="DM Sans"/>
                        </a:rPr>
                        <a:t> feedback AI.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76424"/>
                  </a:ext>
                </a:extLst>
              </a:tr>
            </a:tbl>
          </a:graphicData>
        </a:graphic>
      </p:graphicFrame>
      <p:sp>
        <p:nvSpPr>
          <p:cNvPr id="260" name="Google Shape;260;p23"/>
          <p:cNvSpPr txBox="1"/>
          <p:nvPr/>
        </p:nvSpPr>
        <p:spPr>
          <a:xfrm>
            <a:off x="857250" y="4877142"/>
            <a:ext cx="1105138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Plugin Handlers (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lib.php</a:t>
            </a: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857250" y="5152308"/>
            <a:ext cx="105251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Skrip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lib.php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memegang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eksklusif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untuk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mendikte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aturan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pelacakan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status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penugasan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menyuntikkan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nilai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evaluasi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otomatis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sub-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 Gradebook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melalui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fungsi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aicode_set_user_grade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()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F61BC6-E460-7699-C02A-8E7E3773883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D948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1EAABC-1C46-99FA-F07D-FF42A6BCDE0E}"/>
              </a:ext>
            </a:extLst>
          </p:cNvPr>
          <p:cNvSpPr/>
          <p:nvPr/>
        </p:nvSpPr>
        <p:spPr>
          <a:xfrm>
            <a:off x="6095999" y="0"/>
            <a:ext cx="6096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E429D4-23EE-AB83-F1FC-AADE62A915A2}"/>
              </a:ext>
            </a:extLst>
          </p:cNvPr>
          <p:cNvSpPr txBox="1"/>
          <p:nvPr/>
        </p:nvSpPr>
        <p:spPr>
          <a:xfrm>
            <a:off x="8273943" y="6550899"/>
            <a:ext cx="18448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Diagram </a:t>
            </a:r>
            <a:r>
              <a:rPr lang="en-US" sz="1200" b="1" dirty="0" err="1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ktivitas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iswa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2B572-B03F-C504-F866-DD563E1CFA98}"/>
              </a:ext>
            </a:extLst>
          </p:cNvPr>
          <p:cNvSpPr txBox="1"/>
          <p:nvPr/>
        </p:nvSpPr>
        <p:spPr>
          <a:xfrm>
            <a:off x="2205035" y="5960461"/>
            <a:ext cx="18321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Diagram </a:t>
            </a:r>
            <a:r>
              <a:rPr lang="en-US" sz="1200" b="1" dirty="0" err="1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ktivitas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Guru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4A81EC-FE6A-4A4C-AD28-5DC6158D6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580" y="951229"/>
            <a:ext cx="3158051" cy="50092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8CD554-FA07-9ECA-84F7-F6282B2E6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390" y="330179"/>
            <a:ext cx="4079218" cy="619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37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937" y="4486963"/>
            <a:ext cx="10858500" cy="84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190625"/>
            <a:ext cx="5310187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666750" y="476250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BACKEND EXECUTION ENGINE &amp; SANDBOX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666750" y="971550"/>
            <a:ext cx="10858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833437" y="4748900"/>
            <a:ext cx="105251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Mekanisme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terbukti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100%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andal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menggagalkan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simulasi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serangan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infinite loops latency drop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maupun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penetrasi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berkas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host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uji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skenario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Black-box.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666752" y="1171961"/>
            <a:ext cx="531018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Prosedur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eksekusi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dijalankan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asinkron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melalui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modul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run_code.php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lapisan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pertahanan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fisik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berlapis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666750" y="1860862"/>
            <a:ext cx="492918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Pre-execution Filter: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Modul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security_checker.php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memindai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Abstract Syntax Tree (AST)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untuk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memblokir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pemanggilan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kata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kunci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biner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berbahaya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(eval, require fs,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child_process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642938" y="2673822"/>
            <a:ext cx="492918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Dekopling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Proksi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String JavaScript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ditransmisikan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via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cURL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internal HTTP REST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menuju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layanan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Node.js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independen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port 3001.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642937" y="3304376"/>
            <a:ext cx="492918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Payload Constraint: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Batasan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kaku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ukuran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transfer string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komputasi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di batas statis 50KB guna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mencegah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serangan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banjir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memori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619124" y="3856597"/>
            <a:ext cx="492918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Kill-Switch Timeout: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Pemutus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sakelar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terminator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otomatis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dipatok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tepat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di batas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durasi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absolut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2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detik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(2000ms).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1F28F8-BC87-9ADD-490C-F2F87DC9F0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3167" y="1262062"/>
            <a:ext cx="5133975" cy="28867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808559"/>
            <a:ext cx="10858500" cy="194250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666750" y="476250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FRONTEND LOGIC &amp; MOCK POLYFILL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666750" y="971550"/>
            <a:ext cx="10858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666749" y="1064401"/>
            <a:ext cx="108585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Antarmuka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presentasi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dikendalikan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oleh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modul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AMD JavaScript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amd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/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src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/editor.js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setebal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2.329 baris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mengimplementasikan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kelincahan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navigasional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tanpa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page refresh: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857250" y="1922859"/>
            <a:ext cx="11051381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Mock </a:t>
            </a:r>
            <a:r>
              <a:rPr lang="en-US" sz="1300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Polyfill</a:t>
            </a:r>
            <a:r>
              <a:rPr lang="en-US" sz="1300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Modification System</a:t>
            </a:r>
            <a:endParaRPr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857250" y="2161391"/>
            <a:ext cx="105251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hierarki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belajar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bertahap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guru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menyediakaan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templat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HTML statis (read-only).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Apabila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memanggil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fungsi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document.getElementById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pada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elemen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tidak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disediakan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templat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tersebut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antarmuka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melakukan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intersepsi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dinamis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3" name="Google Shape;293;p25"/>
          <p:cNvSpPr txBox="1"/>
          <p:nvPr/>
        </p:nvSpPr>
        <p:spPr>
          <a:xfrm>
            <a:off x="904874" y="2754106"/>
            <a:ext cx="101441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mendeteksi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kegagalan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panggilan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DOM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senyap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" name="Google Shape;295;p25"/>
          <p:cNvSpPr txBox="1"/>
          <p:nvPr/>
        </p:nvSpPr>
        <p:spPr>
          <a:xfrm>
            <a:off x="904874" y="3017830"/>
            <a:ext cx="101441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Merakit representasi objek elemen bayangan fiktif (Shadow DOM rendering) di latar belakang.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" name="Google Shape;297;p25"/>
          <p:cNvSpPr txBox="1"/>
          <p:nvPr/>
        </p:nvSpPr>
        <p:spPr>
          <a:xfrm>
            <a:off x="904874" y="3281553"/>
            <a:ext cx="101441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Mencegah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jendela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pratinjau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klien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status browser crash logic (fatal error).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666750" y="3979487"/>
            <a:ext cx="5575696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Iframe</a:t>
            </a:r>
            <a:r>
              <a:rPr lang="en-US" sz="13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Sandboxing</a:t>
            </a:r>
            <a:endParaRPr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666750" y="4213026"/>
            <a:ext cx="531018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Pemanfaatan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kontainer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#aicode-preview-iframe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berpelindung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atribut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sandbox="allow-scripts"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untuk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mengisolasi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manipulasi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visual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agar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tidak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mencederai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elemen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struktural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host Moodle.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6215062" y="3979486"/>
            <a:ext cx="5575696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Real-time Rendering</a:t>
            </a:r>
            <a:endParaRPr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6215062" y="4213026"/>
            <a:ext cx="531018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 sinkron merender matriks nomor baris dan memicu injeksi pewarnaan sintaksis dinamis (syntax highlighting) pada blok editor klien.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838" y="5387915"/>
            <a:ext cx="10907675" cy="1002534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666750" y="476250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ANALIS UMPAN BALIK SOKRATIK AI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666750" y="971550"/>
            <a:ext cx="10858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10" name="Google Shape;310;p26"/>
          <p:cNvSpPr txBox="1"/>
          <p:nvPr/>
        </p:nvSpPr>
        <p:spPr>
          <a:xfrm>
            <a:off x="666750" y="1166328"/>
            <a:ext cx="4443023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Integrasi AI pada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tidak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bertindak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sebagai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mesin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penjawab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melainkan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asisten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Sokratis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dikonfigurasi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melalui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modul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analyze_code.php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Google Shape;311;p26"/>
          <p:cNvSpPr txBox="1"/>
          <p:nvPr/>
        </p:nvSpPr>
        <p:spPr>
          <a:xfrm>
            <a:off x="634838" y="5124191"/>
            <a:ext cx="5310187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Inti </a:t>
            </a:r>
            <a:r>
              <a:rPr lang="en-US" sz="1162" b="1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Inovasi</a:t>
            </a:r>
            <a:r>
              <a:rPr lang="en-US" sz="1162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 </a:t>
            </a:r>
            <a:r>
              <a:rPr lang="en-US" sz="1162" b="1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Manipulasi</a:t>
            </a:r>
            <a:r>
              <a:rPr lang="en-US" sz="1162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1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array</a:t>
            </a:r>
            <a:r>
              <a:rPr lang="en-US" sz="1162" b="1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_slice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3" name="Google Shape;313;p26"/>
          <p:cNvSpPr txBox="1"/>
          <p:nvPr/>
        </p:nvSpPr>
        <p:spPr>
          <a:xfrm>
            <a:off x="698661" y="2049182"/>
            <a:ext cx="4411111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Payload Ganda: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Menggabungkan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sumber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templat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guru,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laporan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stderr Node.js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sebagai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konteks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diagnostik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context-aware.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5224373" y="1202812"/>
            <a:ext cx="6318140" cy="3639718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698661" y="2824779"/>
            <a:ext cx="4411111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Privasi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Anonim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Jika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bendera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allow_training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=1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aktif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mengabaikan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userid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menjadi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NULL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sebelum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transmisi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REST API.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666750" y="3600376"/>
            <a:ext cx="4411111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Stabilitas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Heuristik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Penguncian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parameter API (Temperature 0.2,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TopP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0.8) guna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menjamin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luaran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yang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deterministik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bebas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halusinasi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linguistik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825338" y="5640326"/>
            <a:ext cx="10558942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dilarang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mencetak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respons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mentah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API.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Peladen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PHP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mengeksekusi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intervensi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manipulasi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indeks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array_slice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untuk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mengebiri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luaran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petunjuk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menjadi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maksimal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3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tingkatan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(Graduated Hints). Hal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memaksa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penerapan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teori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fading support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agar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tetap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bereksperimen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perbaikan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algoritma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otonom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9C539C-ACFB-96D2-F3CE-7E44521CF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498" y="1350836"/>
            <a:ext cx="5767235" cy="32428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1474440"/>
            <a:ext cx="10934700" cy="178102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8"/>
          <p:cNvSpPr txBox="1"/>
          <p:nvPr/>
        </p:nvSpPr>
        <p:spPr>
          <a:xfrm>
            <a:off x="628650" y="438150"/>
            <a:ext cx="114814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HASIL SINKRONISASI EVALUASI &amp; GRADEBOOK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628650" y="895350"/>
            <a:ext cx="109347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52" name="Google Shape;352;p28"/>
          <p:cNvSpPr txBox="1"/>
          <p:nvPr/>
        </p:nvSpPr>
        <p:spPr>
          <a:xfrm>
            <a:off x="11210925" y="6524625"/>
            <a:ext cx="352425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Slide 16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628650" y="954354"/>
            <a:ext cx="109347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Integrasi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fungsional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lapis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akhir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memvalidasi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sinkronisasi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nilai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otomatis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antara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modul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aktivitas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sub-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Buku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Nilai (Gradebook)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bawaan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4" name="Google Shape;354;p28"/>
          <p:cNvSpPr txBox="1"/>
          <p:nvPr/>
        </p:nvSpPr>
        <p:spPr>
          <a:xfrm>
            <a:off x="628650" y="3426916"/>
            <a:ext cx="109347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Keberhasilan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menegaskan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bahwa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beroperasi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harmonis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arsitektur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inti Moodle,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mereduksi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beban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administratif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pendidik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signifikan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mengelola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kelas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praktikum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pemrograman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dasar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5" name="Google Shape;355;p28"/>
          <p:cNvSpPr txBox="1"/>
          <p:nvPr/>
        </p:nvSpPr>
        <p:spPr>
          <a:xfrm>
            <a:off x="781050" y="1569690"/>
            <a:ext cx="11201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Otomasi Transaksi Buku Nilai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6" name="Google Shape;356;p28"/>
          <p:cNvSpPr txBox="1"/>
          <p:nvPr/>
        </p:nvSpPr>
        <p:spPr>
          <a:xfrm>
            <a:off x="781050" y="1760190"/>
            <a:ext cx="10668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Input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angka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evaluasi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oleh guru pada panel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analitik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report.php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otomatis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memicu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rutinitas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eksekutor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aicode_set_user_grade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()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lapisan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lib.php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bersama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perintah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grade_update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()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Google Shape;358;p28"/>
          <p:cNvSpPr txBox="1"/>
          <p:nvPr/>
        </p:nvSpPr>
        <p:spPr>
          <a:xfrm>
            <a:off x="781050" y="2393132"/>
            <a:ext cx="102870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Nilai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angka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terinjeksi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instan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tabel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Buku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Nilai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utama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mdl_grade_grades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0" name="Google Shape;360;p28"/>
          <p:cNvSpPr txBox="1"/>
          <p:nvPr/>
        </p:nvSpPr>
        <p:spPr>
          <a:xfrm>
            <a:off x="781050" y="2634084"/>
            <a:ext cx="102870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dapat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melihat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nilai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objektif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mereka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melalui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menu Grades pada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akun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Moodle masing-masing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tanpa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prosedur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ekspor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-import manual.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2" name="Google Shape;362;p28"/>
          <p:cNvSpPr txBox="1"/>
          <p:nvPr/>
        </p:nvSpPr>
        <p:spPr>
          <a:xfrm>
            <a:off x="781050" y="2875037"/>
            <a:ext cx="102870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Membuktikan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keberhasilan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sinkronisasi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sistem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hidup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kurikulum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secara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komprehensif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perimeter internal Moodle.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307;p26" descr="image.png">
            <a:extLst>
              <a:ext uri="{FF2B5EF4-FFF2-40B4-BE49-F238E27FC236}">
                <a16:creationId xmlns:a16="http://schemas.microsoft.com/office/drawing/2014/main" id="{66F176D0-6B95-8C60-1510-F2507D49F89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6749" y="1190626"/>
            <a:ext cx="10858499" cy="139255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27;p27">
            <a:extLst>
              <a:ext uri="{FF2B5EF4-FFF2-40B4-BE49-F238E27FC236}">
                <a16:creationId xmlns:a16="http://schemas.microsoft.com/office/drawing/2014/main" id="{F9B87FC1-6133-5B54-0C67-529AA0007B17}"/>
              </a:ext>
            </a:extLst>
          </p:cNvPr>
          <p:cNvSpPr txBox="1"/>
          <p:nvPr/>
        </p:nvSpPr>
        <p:spPr>
          <a:xfrm>
            <a:off x="666750" y="476250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HASIL VALIDASI &amp; SIMPULAN AKHIR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328;p27">
            <a:extLst>
              <a:ext uri="{FF2B5EF4-FFF2-40B4-BE49-F238E27FC236}">
                <a16:creationId xmlns:a16="http://schemas.microsoft.com/office/drawing/2014/main" id="{DEE867FF-51F0-4155-0BCF-2F9B581F21C8}"/>
              </a:ext>
            </a:extLst>
          </p:cNvPr>
          <p:cNvSpPr/>
          <p:nvPr/>
        </p:nvSpPr>
        <p:spPr>
          <a:xfrm>
            <a:off x="666750" y="971550"/>
            <a:ext cx="10858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" name="Google Shape;330;p27">
            <a:extLst>
              <a:ext uri="{FF2B5EF4-FFF2-40B4-BE49-F238E27FC236}">
                <a16:creationId xmlns:a16="http://schemas.microsoft.com/office/drawing/2014/main" id="{D000AD10-FD51-D09F-9C82-90A615E9B83F}"/>
              </a:ext>
            </a:extLst>
          </p:cNvPr>
          <p:cNvSpPr txBox="1"/>
          <p:nvPr/>
        </p:nvSpPr>
        <p:spPr>
          <a:xfrm>
            <a:off x="902587" y="1377417"/>
            <a:ext cx="10493853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merancang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bangun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plugin Moodle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Aicode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asinkron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antarmuka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AMD JavaScript,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eksekutor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sandbox Node.js porta 3001, dan API Google Gemini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dijembatani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Moodle Web Service Subsystem.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Mekanisme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pertahanan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security_checker.php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muatan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50KB, dan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timeout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detik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terbukti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100%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andal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menetralkan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eksekusi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perintah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berbahaya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 loops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interaksi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pengerjaan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tervalidasi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terekam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otentik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lima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XMLDB,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mempopulasi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analitik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pengajar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tersinkronisasi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presisi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Moodle Gradebook API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lib.php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389;p30" descr="image.png">
            <a:extLst>
              <a:ext uri="{FF2B5EF4-FFF2-40B4-BE49-F238E27FC236}">
                <a16:creationId xmlns:a16="http://schemas.microsoft.com/office/drawing/2014/main" id="{20DD59C7-452D-AFED-389B-A227292249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167" y="3221925"/>
            <a:ext cx="10832081" cy="909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90;p30" descr="image.png">
            <a:extLst>
              <a:ext uri="{FF2B5EF4-FFF2-40B4-BE49-F238E27FC236}">
                <a16:creationId xmlns:a16="http://schemas.microsoft.com/office/drawing/2014/main" id="{C0F8C250-D489-11C4-2641-602EA9D983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3167" y="4189010"/>
            <a:ext cx="10832081" cy="909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91;p30" descr="image.png">
            <a:extLst>
              <a:ext uri="{FF2B5EF4-FFF2-40B4-BE49-F238E27FC236}">
                <a16:creationId xmlns:a16="http://schemas.microsoft.com/office/drawing/2014/main" id="{37917E1B-C136-225D-0811-2DA0D3713F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167" y="5156095"/>
            <a:ext cx="10832081" cy="90993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96;p30">
            <a:extLst>
              <a:ext uri="{FF2B5EF4-FFF2-40B4-BE49-F238E27FC236}">
                <a16:creationId xmlns:a16="http://schemas.microsoft.com/office/drawing/2014/main" id="{3E266755-37A3-807C-D3C9-177A4E609539}"/>
              </a:ext>
            </a:extLst>
          </p:cNvPr>
          <p:cNvSpPr txBox="1"/>
          <p:nvPr/>
        </p:nvSpPr>
        <p:spPr>
          <a:xfrm>
            <a:off x="845566" y="3274579"/>
            <a:ext cx="1109867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1.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Pengembangan</a:t>
            </a: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Sandbox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Berbasis</a:t>
            </a: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Kontainer</a:t>
            </a: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Docker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Dinamis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oogle Shape;397;p30">
            <a:extLst>
              <a:ext uri="{FF2B5EF4-FFF2-40B4-BE49-F238E27FC236}">
                <a16:creationId xmlns:a16="http://schemas.microsoft.com/office/drawing/2014/main" id="{17F393EF-2C80-1AE4-B54F-24FB789304CB}"/>
              </a:ext>
            </a:extLst>
          </p:cNvPr>
          <p:cNvSpPr txBox="1"/>
          <p:nvPr/>
        </p:nvSpPr>
        <p:spPr>
          <a:xfrm>
            <a:off x="845566" y="3509570"/>
            <a:ext cx="10570165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Disarankan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meningkatkan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isolasi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eksekusi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Node.js port statis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menuju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kontainerisasi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Docker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dinamis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per-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siswa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guna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mengeliminasi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risiko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kebocoran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memori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(memory leaks)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memperketat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pengamanan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sandbox escape pada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tahap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produksi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skala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besar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398;p30">
            <a:extLst>
              <a:ext uri="{FF2B5EF4-FFF2-40B4-BE49-F238E27FC236}">
                <a16:creationId xmlns:a16="http://schemas.microsoft.com/office/drawing/2014/main" id="{FD485C62-CFE5-634C-152A-E6C56CE98D20}"/>
              </a:ext>
            </a:extLst>
          </p:cNvPr>
          <p:cNvSpPr txBox="1"/>
          <p:nvPr/>
        </p:nvSpPr>
        <p:spPr>
          <a:xfrm>
            <a:off x="845567" y="4284260"/>
            <a:ext cx="1109867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2.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Ekspansi</a:t>
            </a: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Diversifikasi</a:t>
            </a:r>
            <a:r>
              <a:rPr lang="en-US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Bahasa </a:t>
            </a:r>
            <a:r>
              <a:rPr lang="en-US" b="1" i="0" u="none" strike="noStrike" cap="none" dirty="0" err="1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Pemrograman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399;p30">
            <a:extLst>
              <a:ext uri="{FF2B5EF4-FFF2-40B4-BE49-F238E27FC236}">
                <a16:creationId xmlns:a16="http://schemas.microsoft.com/office/drawing/2014/main" id="{9D1CB9CF-5CA6-9110-D17D-551E0165E100}"/>
              </a:ext>
            </a:extLst>
          </p:cNvPr>
          <p:cNvSpPr txBox="1"/>
          <p:nvPr/>
        </p:nvSpPr>
        <p:spPr>
          <a:xfrm>
            <a:off x="845566" y="4497600"/>
            <a:ext cx="10570165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Pengembangan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fitur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konfigurasi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guru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disarankan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untuk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diekspansi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mendukung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kompilasi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multibahasa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(Python, PHP, C++) guna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meluaskan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cakupan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kompetensi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mata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pelajaran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kejuruan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di SMK di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luar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domain JavaScript Dasar.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400;p30">
            <a:extLst>
              <a:ext uri="{FF2B5EF4-FFF2-40B4-BE49-F238E27FC236}">
                <a16:creationId xmlns:a16="http://schemas.microsoft.com/office/drawing/2014/main" id="{BB3EE342-AECC-72F1-6581-95611A4BD95F}"/>
              </a:ext>
            </a:extLst>
          </p:cNvPr>
          <p:cNvSpPr txBox="1"/>
          <p:nvPr/>
        </p:nvSpPr>
        <p:spPr>
          <a:xfrm>
            <a:off x="845567" y="5251345"/>
            <a:ext cx="1109867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3. Optimalisasi Algoritma Retrieval-Augmented Generation (RAG)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Google Shape;401;p30">
            <a:extLst>
              <a:ext uri="{FF2B5EF4-FFF2-40B4-BE49-F238E27FC236}">
                <a16:creationId xmlns:a16="http://schemas.microsoft.com/office/drawing/2014/main" id="{B3922961-507D-C2B3-D1D1-61BEA09616E6}"/>
              </a:ext>
            </a:extLst>
          </p:cNvPr>
          <p:cNvSpPr txBox="1"/>
          <p:nvPr/>
        </p:nvSpPr>
        <p:spPr>
          <a:xfrm>
            <a:off x="845566" y="5432320"/>
            <a:ext cx="10570165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Integrasi basis data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pengetahuan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lokal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sekolah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modul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ajar guru)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dalam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kueri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menggunakan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teknik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RAG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disarankan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agar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penjelasan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diagnostik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rekomendasi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belajar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Gemini API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selaras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dengan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Rencana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Pelaksanaan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Pembelajaran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(RPP) guru di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kelas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1ECF0F-B6A0-C949-F83C-A391FE0845D4}"/>
              </a:ext>
            </a:extLst>
          </p:cNvPr>
          <p:cNvSpPr txBox="1"/>
          <p:nvPr/>
        </p:nvSpPr>
        <p:spPr>
          <a:xfrm>
            <a:off x="693168" y="2914148"/>
            <a:ext cx="963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Saran</a:t>
            </a:r>
            <a:endParaRPr lang="en-US" b="1" dirty="0">
              <a:solidFill>
                <a:srgbClr val="0D94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251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/>
        </p:nvSpPr>
        <p:spPr>
          <a:xfrm>
            <a:off x="0" y="315195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D94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TERIMA KASIH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6" name="Google Shape;336;p28"/>
          <p:cNvSpPr txBox="1"/>
          <p:nvPr/>
        </p:nvSpPr>
        <p:spPr>
          <a:xfrm>
            <a:off x="3894487" y="3706050"/>
            <a:ext cx="44030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Annuruddin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Tsanasti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Yassar | NIM: 5302422055 | UNNES 2026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3031</Words>
  <Application>Microsoft Office PowerPoint</Application>
  <PresentationFormat>Widescreen</PresentationFormat>
  <Paragraphs>169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DM Sans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ASUS TUF</cp:lastModifiedBy>
  <cp:revision>12</cp:revision>
  <dcterms:modified xsi:type="dcterms:W3CDTF">2026-07-12T13:56:14Z</dcterms:modified>
</cp:coreProperties>
</file>